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5143500" cx="9144000"/>
  <p:notesSz cx="6858000" cy="9144000"/>
  <p:embeddedFontLst>
    <p:embeddedFont>
      <p:font typeface="JetBrains Mono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JetBrains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JetBrainsMono-italic.fntdata"/><Relationship Id="rId30" Type="http://schemas.openxmlformats.org/officeDocument/2006/relationships/font" Target="fonts/JetBrainsMono-bold.fntdata"/><Relationship Id="rId11" Type="http://schemas.openxmlformats.org/officeDocument/2006/relationships/slide" Target="slides/slide7.xml"/><Relationship Id="rId33" Type="http://schemas.openxmlformats.org/officeDocument/2006/relationships/font" Target="fonts/OpenSans-regular.fntdata"/><Relationship Id="rId10" Type="http://schemas.openxmlformats.org/officeDocument/2006/relationships/slide" Target="slides/slide6.xml"/><Relationship Id="rId32" Type="http://schemas.openxmlformats.org/officeDocument/2006/relationships/font" Target="fonts/JetBrainsMono-boldItalic.fntdata"/><Relationship Id="rId13" Type="http://schemas.openxmlformats.org/officeDocument/2006/relationships/slide" Target="slides/slide9.xml"/><Relationship Id="rId35" Type="http://schemas.openxmlformats.org/officeDocument/2006/relationships/font" Target="fonts/OpenSans-italic.fntdata"/><Relationship Id="rId12" Type="http://schemas.openxmlformats.org/officeDocument/2006/relationships/slide" Target="slides/slide8.xml"/><Relationship Id="rId34" Type="http://schemas.openxmlformats.org/officeDocument/2006/relationships/font" Target="fonts/OpenSans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e055713431fe3a9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e055713431fe3a9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e055713431fe3a9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e055713431fe3a9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e055713431fe3a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e055713431fe3a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e055713431fe3a9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e055713431fe3a9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e055713431fe3a9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e055713431fe3a9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e055713431fe3a9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e055713431fe3a9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e055713431fe3a9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e055713431fe3a9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e055713431fe3a9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e055713431fe3a9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e055713431fe3a9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e055713431fe3a9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e055713431fe3a9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e055713431fe3a9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e055713431fe3a9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e055713431fe3a9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e055713431fe3a9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e055713431fe3a9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e055713431fe3a9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he055713431fe3a9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e055713431fe3a9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he055713431fe3a9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e055713431fe3a9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e055713431fe3a9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06c30e95b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06c30e95b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87450aa2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c87450aa2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87450aa2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c87450aa2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87450aa2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c87450aa2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87450aa2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c87450aa2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87450aa2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c87450aa2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87450aa2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c87450aa2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87450aa2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c87450aa2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21250" y="4288472"/>
            <a:ext cx="2044150" cy="6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hyperlink" Target="https://highlight.hohli.com/?theme=github-dark&amp;language=c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557700" y="924250"/>
            <a:ext cx="8028600" cy="18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Reverse Engineering</a:t>
            </a:r>
            <a:endParaRPr b="1" sz="51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Workshop</a:t>
            </a:r>
            <a:endParaRPr b="1" sz="51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751025" y="3895375"/>
            <a:ext cx="2711400" cy="497100"/>
          </a:xfrm>
          <a:prstGeom prst="roundRect">
            <a:avLst>
              <a:gd fmla="val 16667" name="adj"/>
            </a:avLst>
          </a:prstGeom>
          <a:solidFill>
            <a:srgbClr val="181D4F"/>
          </a:solidFill>
          <a:ln cap="flat" cmpd="sng" w="28575">
            <a:solidFill>
              <a:srgbClr val="344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Term: Fall 2026</a:t>
            </a:r>
            <a:endParaRPr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Hosted by Evin Lodder</a:t>
            </a:r>
            <a:endParaRPr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217900" y="146600"/>
            <a:ext cx="3766800" cy="127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Important Links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3" name="Google Shape;63;p14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65" name="Google Shape;65;p14" title="adobe-express-qr-code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125" y="1421000"/>
            <a:ext cx="2726350" cy="27263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type="title"/>
          </p:nvPr>
        </p:nvSpPr>
        <p:spPr>
          <a:xfrm>
            <a:off x="217900" y="4147350"/>
            <a:ext cx="3766800" cy="70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Ghidra Download</a:t>
            </a:r>
            <a:endParaRPr b="1"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7" name="Google Shape;67;p14" title="adobe-express-qr-code(4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1800" y="1421000"/>
            <a:ext cx="2726350" cy="27263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>
            <p:ph type="title"/>
          </p:nvPr>
        </p:nvSpPr>
        <p:spPr>
          <a:xfrm>
            <a:off x="3761575" y="4147350"/>
            <a:ext cx="3766800" cy="70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Workshop Repo</a:t>
            </a:r>
            <a:endParaRPr b="1"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447750" y="1934550"/>
            <a:ext cx="8248500" cy="127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Section 1: RE Basics</a:t>
            </a:r>
            <a:endParaRPr b="1" sz="5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4" name="Google Shape;74;p15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507600" y="3288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What is RE? Where is it used?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1" name="Google Shape;81;p16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507600" y="901500"/>
            <a:ext cx="6181200" cy="3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Determining how a computer system works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No source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Understanding better than creator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 Jobs: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Malware Analysis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Vulnerability Research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Legacy Systems Recovery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Competitor Analysis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Fields: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Defense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Automotive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Legal bounds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507600" y="3288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 Process (Generally)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9" name="Google Shape;89;p17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975074" y="2134200"/>
            <a:ext cx="1451400" cy="875100"/>
          </a:xfrm>
          <a:prstGeom prst="roundRect">
            <a:avLst>
              <a:gd fmla="val 16667" name="adj"/>
            </a:avLst>
          </a:prstGeom>
          <a:solidFill>
            <a:srgbClr val="4E2232"/>
          </a:solidFill>
          <a:ln cap="flat" cmpd="sng" w="28575">
            <a:solidFill>
              <a:srgbClr val="EE53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Triage</a:t>
            </a:r>
            <a:endParaRPr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2889223" y="2134200"/>
            <a:ext cx="1451400" cy="875100"/>
          </a:xfrm>
          <a:prstGeom prst="roundRect">
            <a:avLst>
              <a:gd fmla="val 16667" name="adj"/>
            </a:avLst>
          </a:prstGeom>
          <a:solidFill>
            <a:srgbClr val="304F22"/>
          </a:solidFill>
          <a:ln cap="flat" cmpd="sng" w="28575">
            <a:solidFill>
              <a:srgbClr val="84E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Static Analysis</a:t>
            </a:r>
            <a:endParaRPr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803374" y="2134200"/>
            <a:ext cx="1451400" cy="875100"/>
          </a:xfrm>
          <a:prstGeom prst="roundRect">
            <a:avLst>
              <a:gd fmla="val 16667" name="adj"/>
            </a:avLst>
          </a:prstGeom>
          <a:solidFill>
            <a:srgbClr val="181D4F"/>
          </a:solidFill>
          <a:ln cap="flat" cmpd="sng" w="28575">
            <a:solidFill>
              <a:srgbClr val="344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Dynamic Analysis</a:t>
            </a:r>
            <a:endParaRPr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6717524" y="2134200"/>
            <a:ext cx="1451400" cy="875100"/>
          </a:xfrm>
          <a:prstGeom prst="roundRect">
            <a:avLst>
              <a:gd fmla="val 16667" name="adj"/>
            </a:avLst>
          </a:prstGeom>
          <a:solidFill>
            <a:srgbClr val="4E2232"/>
          </a:solidFill>
          <a:ln cap="flat" cmpd="sng" w="28575">
            <a:solidFill>
              <a:srgbClr val="EE53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(fun stuff)</a:t>
            </a:r>
            <a:endParaRPr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95" name="Google Shape;95;p17"/>
          <p:cNvCxnSpPr>
            <a:endCxn id="92" idx="1"/>
          </p:cNvCxnSpPr>
          <p:nvPr/>
        </p:nvCxnSpPr>
        <p:spPr>
          <a:xfrm>
            <a:off x="2426623" y="2571750"/>
            <a:ext cx="4626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7"/>
          <p:cNvCxnSpPr/>
          <p:nvPr/>
        </p:nvCxnSpPr>
        <p:spPr>
          <a:xfrm>
            <a:off x="4340698" y="2571750"/>
            <a:ext cx="4626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7"/>
          <p:cNvCxnSpPr/>
          <p:nvPr/>
        </p:nvCxnSpPr>
        <p:spPr>
          <a:xfrm>
            <a:off x="6254773" y="2571750"/>
            <a:ext cx="4626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17"/>
          <p:cNvSpPr txBox="1"/>
          <p:nvPr/>
        </p:nvSpPr>
        <p:spPr>
          <a:xfrm>
            <a:off x="844425" y="3652500"/>
            <a:ext cx="36270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*not necessarily linear process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507600" y="3288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Code ↔ Binary Process </a:t>
            </a: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(for C)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4" name="Google Shape;104;p18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507600" y="1149375"/>
            <a:ext cx="3681300" cy="27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Code to Binary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AutoNum type="arabicPeriod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Preprocessor run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AutoNum type="arabicPeriod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Compile to assembly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AutoNum type="arabicPeriod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Assemble to object files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AutoNum type="arabicPeriod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Link object files together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4490025" y="1149375"/>
            <a:ext cx="4424100" cy="27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Binary to Code (ish) with Ghidra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AutoNum type="arabicPeriod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Loader (parses format)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AutoNum type="arabicPeriod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Disassembler (SLEIGH)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AutoNum type="arabicPeriod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P-code creation (generic code)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AutoNum type="arabicPeriod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Decompilation (P-code to C-ish)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485300" y="4112250"/>
            <a:ext cx="658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*note that in most cases, most of the original code information is lost (unless debug symbols exist)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447750" y="1934550"/>
            <a:ext cx="8248500" cy="127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6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Section 2: Assembly Primer</a:t>
            </a:r>
            <a:endParaRPr b="1" sz="46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4" name="Google Shape;114;p19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507600" y="3288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What is assembly?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1" name="Google Shape;121;p20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507600" y="1149375"/>
            <a:ext cx="6181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Immediately above binary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Raw instructions for CPU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Registers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Small built-in storage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Faster + smaller than memory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No variables, functions (kinda), types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Labels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Differs by architecture (ARM, x86, PowerPC, etc.)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Most accurate RE source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507600" y="3288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ARM32 Registers + Calling Convention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9" name="Google Shape;129;p21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507600" y="1149375"/>
            <a:ext cx="6181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r0-r15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All 32-bit registers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r13 = sp (stack pointer)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r14 = lr (link register / return addr)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r15 = pc (current instruction addr)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r0-r3 - first 4 function arguments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Additional arguments go on stack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r0 - return value (r0:r1 for 64-bit)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r4-r11 - callee-saved (saved and restored by func)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507600" y="3288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ARM32 Function Pro/Epilogue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7" name="Google Shape;137;p22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507600" y="1149375"/>
            <a:ext cx="6181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Prologue: </a:t>
            </a: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push </a:t>
            </a:r>
            <a:r>
              <a:rPr lang="en">
                <a:solidFill>
                  <a:srgbClr val="C9D1D9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r>
              <a:rPr lang="en">
                <a:solidFill>
                  <a:srgbClr val="A5D6FF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r4</a:t>
            </a:r>
            <a:r>
              <a:rPr lang="en">
                <a:solidFill>
                  <a:srgbClr val="C9D1D9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>
                <a:solidFill>
                  <a:srgbClr val="A5D6FF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r5</a:t>
            </a:r>
            <a:r>
              <a:rPr lang="en">
                <a:solidFill>
                  <a:srgbClr val="C9D1D9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…, </a:t>
            </a:r>
            <a:r>
              <a:rPr lang="en">
                <a:solidFill>
                  <a:srgbClr val="A5D6FF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lr</a:t>
            </a:r>
            <a:r>
              <a:rPr lang="en">
                <a:solidFill>
                  <a:srgbClr val="C9D1D9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>
              <a:solidFill>
                <a:srgbClr val="C9D1D9"/>
              </a:solidFill>
              <a:highlight>
                <a:srgbClr val="383838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Epilogue: </a:t>
            </a: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pop </a:t>
            </a:r>
            <a:r>
              <a:rPr lang="en">
                <a:solidFill>
                  <a:srgbClr val="C9D1D9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r>
              <a:rPr lang="en">
                <a:solidFill>
                  <a:srgbClr val="A5D6FF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r4</a:t>
            </a:r>
            <a:r>
              <a:rPr lang="en">
                <a:solidFill>
                  <a:srgbClr val="C9D1D9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>
                <a:solidFill>
                  <a:srgbClr val="A5D6FF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r5</a:t>
            </a:r>
            <a:r>
              <a:rPr lang="en">
                <a:solidFill>
                  <a:srgbClr val="C9D1D9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…, </a:t>
            </a:r>
            <a:r>
              <a:rPr lang="en">
                <a:solidFill>
                  <a:srgbClr val="A5D6FF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pc</a:t>
            </a:r>
            <a:r>
              <a:rPr lang="en">
                <a:solidFill>
                  <a:srgbClr val="C9D1D9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bx lr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is also used when nothing pushed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Good to recognize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507600" y="3288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ARM32 Load/Store and Literals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5" name="Google Shape;145;p23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507600" y="1149375"/>
            <a:ext cx="6181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Memory cannot be directly operated on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Must load with </a:t>
            </a: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ldr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store with </a:t>
            </a: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4-byte instructions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4-byte literals stored near func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2-byte Thumb instructions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507600" y="3288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ARM32 Branching and Conditionals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3" name="Google Shape;153;p24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507600" y="1149375"/>
            <a:ext cx="6181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Branch types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- branch to label / addr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bl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- branch with link (save return addr)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bx/blx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- for thumb mode (addr + 1)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Comparing with </a:t>
            </a: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cmp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Use aliases like </a:t>
            </a: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eq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ne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gt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lt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etc.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■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Suffixed (i.e. </a:t>
            </a: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beq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447750" y="1934550"/>
            <a:ext cx="8248500" cy="127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Section 3: Tooling Tour</a:t>
            </a:r>
            <a:endParaRPr b="1" sz="5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1" name="Google Shape;161;p25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507600" y="3288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Terminal Tools + Ghidra Alternatives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8" name="Google Shape;168;p26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507600" y="1149375"/>
            <a:ext cx="68673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Terminal Tools (most useful)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binwalk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- extracts binaries from compressed artifacts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strings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- lists all ASCII strings in a file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file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- file format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○"/>
            </a:pP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readelf / objdump</a:t>
            </a: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- headers, sections, symbols, etc.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IDA Pro, Binary Ninja as alternatives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General Linux proficiency good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447750" y="22854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Do the ghidra tour then exercises :)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6" name="Google Shape;176;p27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447750" y="22854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Thank you! Questions?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3" name="Google Shape;183;p28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81818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507600" y="333275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Elements to use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507600" y="1309625"/>
            <a:ext cx="8248500" cy="6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Copy and paste these elements to use on your slides</a:t>
            </a:r>
            <a:endParaRPr/>
          </a:p>
        </p:txBody>
      </p:sp>
      <p:sp>
        <p:nvSpPr>
          <p:cNvPr id="191" name="Google Shape;191;p29"/>
          <p:cNvSpPr/>
          <p:nvPr/>
        </p:nvSpPr>
        <p:spPr>
          <a:xfrm>
            <a:off x="591856" y="1985525"/>
            <a:ext cx="1274700" cy="312000"/>
          </a:xfrm>
          <a:prstGeom prst="roundRect">
            <a:avLst>
              <a:gd fmla="val 16667" name="adj"/>
            </a:avLst>
          </a:prstGeom>
          <a:solidFill>
            <a:srgbClr val="4E2232"/>
          </a:solidFill>
          <a:ln cap="flat" cmpd="sng" w="28575">
            <a:solidFill>
              <a:srgbClr val="EE53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 box</a:t>
            </a:r>
            <a:endParaRPr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92" name="Google Shape;192;p29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591859" y="2527549"/>
            <a:ext cx="3301200" cy="831300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7B72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">
                <a:solidFill>
                  <a:srgbClr val="C9D1D9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rgbClr val="D2A8FF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">
                <a:solidFill>
                  <a:srgbClr val="C9D1D9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>
                <a:solidFill>
                  <a:srgbClr val="FF7B72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void</a:t>
            </a:r>
            <a:r>
              <a:rPr lang="en">
                <a:solidFill>
                  <a:srgbClr val="C9D1D9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>
              <a:solidFill>
                <a:srgbClr val="C9D1D9"/>
              </a:solidFill>
              <a:highlight>
                <a:srgbClr val="383838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9D1D9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>
                <a:solidFill>
                  <a:srgbClr val="FFA657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printf</a:t>
            </a:r>
            <a:r>
              <a:rPr lang="en">
                <a:solidFill>
                  <a:srgbClr val="C9D1D9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>
                <a:solidFill>
                  <a:srgbClr val="A5D6FF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"Code block”</a:t>
            </a:r>
            <a:r>
              <a:rPr lang="en">
                <a:solidFill>
                  <a:srgbClr val="C9D1D9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>
              <a:solidFill>
                <a:srgbClr val="C9D1D9"/>
              </a:solidFill>
              <a:highlight>
                <a:srgbClr val="383838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9D1D9"/>
                </a:solidFill>
                <a:highlight>
                  <a:srgbClr val="38383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700">
              <a:solidFill>
                <a:srgbClr val="0D1117"/>
              </a:solidFill>
              <a:highlight>
                <a:srgbClr val="383838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2148431" y="1985525"/>
            <a:ext cx="1274700" cy="312000"/>
          </a:xfrm>
          <a:prstGeom prst="roundRect">
            <a:avLst>
              <a:gd fmla="val 16667" name="adj"/>
            </a:avLst>
          </a:prstGeom>
          <a:solidFill>
            <a:srgbClr val="304F22"/>
          </a:solidFill>
          <a:ln cap="flat" cmpd="sng" w="28575">
            <a:solidFill>
              <a:srgbClr val="84E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 box</a:t>
            </a:r>
            <a:endParaRPr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3705006" y="1985525"/>
            <a:ext cx="1274700" cy="312000"/>
          </a:xfrm>
          <a:prstGeom prst="roundRect">
            <a:avLst>
              <a:gd fmla="val 16667" name="adj"/>
            </a:avLst>
          </a:prstGeom>
          <a:solidFill>
            <a:srgbClr val="181D4F"/>
          </a:solidFill>
          <a:ln cap="flat" cmpd="sng" w="28575">
            <a:solidFill>
              <a:srgbClr val="344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 box</a:t>
            </a:r>
            <a:endParaRPr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197" name="Google Shape;197;p29"/>
          <p:cNvGrpSpPr/>
          <p:nvPr/>
        </p:nvGrpSpPr>
        <p:grpSpPr>
          <a:xfrm>
            <a:off x="583795" y="3588876"/>
            <a:ext cx="2952080" cy="1145100"/>
            <a:chOff x="978408" y="3627550"/>
            <a:chExt cx="2952080" cy="1145100"/>
          </a:xfrm>
        </p:grpSpPr>
        <p:sp>
          <p:nvSpPr>
            <p:cNvPr id="198" name="Google Shape;198;p29"/>
            <p:cNvSpPr/>
            <p:nvPr/>
          </p:nvSpPr>
          <p:spPr>
            <a:xfrm>
              <a:off x="1010588" y="3627550"/>
              <a:ext cx="2919900" cy="1145100"/>
            </a:xfrm>
            <a:prstGeom prst="rect">
              <a:avLst/>
            </a:prstGeom>
            <a:solidFill>
              <a:srgbClr val="40224E"/>
            </a:solidFill>
            <a:ln>
              <a:noFill/>
            </a:ln>
          </p:spPr>
          <p:txBody>
            <a:bodyPr anchorCtr="0" anchor="t" bIns="137150" lIns="137150" spcFirstLastPara="1" rIns="137150" wrap="square" tIns="137150">
              <a:noAutofit/>
            </a:bodyPr>
            <a:lstStyle/>
            <a:p>
              <a:pPr indent="0" lvl="0" marL="9144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EBCCF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🚀 Callout box</a:t>
              </a:r>
              <a:endParaRPr b="1" sz="1800">
                <a:solidFill>
                  <a:srgbClr val="EBCCF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9144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lt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Use this to emphasize</a:t>
              </a:r>
              <a:endParaRPr b="1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9144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lt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something!</a:t>
              </a:r>
              <a:endParaRPr b="1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99" name="Google Shape;199;p29"/>
            <p:cNvSpPr/>
            <p:nvPr/>
          </p:nvSpPr>
          <p:spPr>
            <a:xfrm>
              <a:off x="978408" y="3627550"/>
              <a:ext cx="32100" cy="1145100"/>
            </a:xfrm>
            <a:prstGeom prst="rect">
              <a:avLst/>
            </a:prstGeom>
            <a:solidFill>
              <a:srgbClr val="BD54EE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4094934" y="2607986"/>
            <a:ext cx="3486900" cy="6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&lt;- </a:t>
            </a:r>
            <a:r>
              <a:rPr lang="en" sz="1400" u="sng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syntax highlight</a:t>
            </a:r>
            <a:r>
              <a:rPr lang="en" sz="1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using Github dark</a:t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81818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507600" y="3288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Announcements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6" name="Google Shape;206;p30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81818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title"/>
          </p:nvPr>
        </p:nvSpPr>
        <p:spPr>
          <a:xfrm>
            <a:off x="507600" y="3288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Goals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3" name="Google Shape;213;p31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507600" y="1309625"/>
            <a:ext cx="7254300" cy="31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EOD Today</a:t>
            </a:r>
            <a:endParaRPr b="1" sz="16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etBrains Mono"/>
              <a:buChar char="●"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Up</a:t>
            </a:r>
            <a:endParaRPr b="1" sz="16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etBrains Mono"/>
              <a:buChar char="●"/>
            </a:pPr>
            <a:r>
              <a:t/>
            </a:r>
            <a:endParaRPr b="1" sz="1400" u="sng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81818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ctrTitle"/>
          </p:nvPr>
        </p:nvSpPr>
        <p:spPr>
          <a:xfrm>
            <a:off x="557700" y="924250"/>
            <a:ext cx="8028600" cy="18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Subteams</a:t>
            </a:r>
            <a:endParaRPr b="1" sz="3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81818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507600" y="3288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DUT Firmware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7" name="Google Shape;227;p33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507600" y="1309625"/>
            <a:ext cx="7254300" cy="31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 week we… </a:t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etBrains Mono"/>
              <a:buChar char="●"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week we will…</a:t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etBrains Mono"/>
              <a:buChar char="●"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Blockers:</a:t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etBrains Mono"/>
              <a:buChar char="●"/>
            </a:pPr>
            <a:r>
              <a:t/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81818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type="title"/>
          </p:nvPr>
        </p:nvSpPr>
        <p:spPr>
          <a:xfrm>
            <a:off x="507600" y="3288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Test Node Firmware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5" name="Google Shape;235;p34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37" name="Google Shape;237;p34"/>
          <p:cNvSpPr txBox="1"/>
          <p:nvPr>
            <p:ph idx="1" type="body"/>
          </p:nvPr>
        </p:nvSpPr>
        <p:spPr>
          <a:xfrm>
            <a:off x="507600" y="1255100"/>
            <a:ext cx="7254300" cy="33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 week we…</a:t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etBrains Mono"/>
              <a:buChar char="●"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week we will…</a:t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etBrains Mono"/>
              <a:buChar char="●"/>
            </a:pPr>
            <a:r>
              <a:t/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Blockers:</a:t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etBrains Mono"/>
              <a:buChar char="●"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81818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507600" y="3288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Test Automation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3" name="Google Shape;243;p35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45" name="Google Shape;245;p35"/>
          <p:cNvSpPr txBox="1"/>
          <p:nvPr>
            <p:ph idx="1" type="body"/>
          </p:nvPr>
        </p:nvSpPr>
        <p:spPr>
          <a:xfrm>
            <a:off x="507600" y="1309625"/>
            <a:ext cx="8142300" cy="33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 week we…</a:t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etBrains Mono"/>
              <a:buChar char="●"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week we will…</a:t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etBrains Mono"/>
              <a:buChar char="●"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Blockers:</a:t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etBrains Mono"/>
              <a:buChar char="●"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81818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/>
          <p:nvPr>
            <p:ph type="title"/>
          </p:nvPr>
        </p:nvSpPr>
        <p:spPr>
          <a:xfrm>
            <a:off x="507600" y="328800"/>
            <a:ext cx="82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Flight Simulation</a:t>
            </a:r>
            <a:endParaRPr b="1" sz="302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1" name="Google Shape;251;p36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051" y="4615600"/>
            <a:ext cx="1274701" cy="38339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53" name="Google Shape;253;p36"/>
          <p:cNvSpPr txBox="1"/>
          <p:nvPr>
            <p:ph idx="1" type="body"/>
          </p:nvPr>
        </p:nvSpPr>
        <p:spPr>
          <a:xfrm>
            <a:off x="507600" y="1309625"/>
            <a:ext cx="7254300" cy="31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 week we…</a:t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etBrains Mono"/>
              <a:buChar char="●"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week we will…</a:t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etBrains Mono"/>
              <a:buChar char="●"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Blockers:</a:t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etBrains Mono"/>
              <a:buChar char="●"/>
            </a:pPr>
            <a:r>
              <a:t/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